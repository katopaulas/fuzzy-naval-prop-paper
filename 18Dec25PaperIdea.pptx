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1.xml" ContentType="application/vnd.openxmlformats-officedocument.customXmlProperties+xml"/>
  <Override PartName="/customXml/item1.xml" ContentType="application/xml"/>
  <Override PartName="/customXml/itemProps2.xml" ContentType="application/vnd.openxmlformats-officedocument.customXmlProperties+xml"/>
  <Override PartName="/customXml/item3.xml" ContentType="application/xml"/>
  <Override PartName="/customXml/item2.xml" ContentType="application/xml"/>
  <Override PartName="/customXml/itemProps3.xml" ContentType="application/vnd.openxmlformats-officedocument.customXml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edit 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Master </a:t>
            </a: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44D549-DDF5-485A-9A31-48396804E10B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E9A92C-8266-42D0-94F9-3FADE93A1F70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B4F0AA-3E3D-4095-BFC5-F1B5C36795EE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4F0670-C77C-483F-B77D-5B544475CD89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4119A7-F72C-4DFC-A6EE-C52497A9D2F2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to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edit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Mast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er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title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908935-1C1F-4B44-93B2-236ADEA11A2C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1C060C-BAF7-4DD5-AA61-A6BA53850390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A9327A-55AD-4353-925D-7689A20F3071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CC3630-EAFF-4624-A562-1D39C08B17A5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to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edit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Maste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r title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28B541-8245-44FA-80BA-B795F823C6CC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710D71-4DDC-4AC0-B93F-918DFD247E26}" type="slidenum">
              <a:rPr b="0" lang="en-US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ubTitle"/>
          </p:nvPr>
        </p:nvSpPr>
        <p:spPr>
          <a:xfrm>
            <a:off x="1523880" y="294480"/>
            <a:ext cx="9143640" cy="143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Current Process Idea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Fuzzy explainable condition-based maintenance for naval propulsion systems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476640" y="1838160"/>
            <a:ext cx="356004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 standard Train process for BC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Neural network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+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Fuzzy Classifier head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476640" y="3871080"/>
            <a:ext cx="31806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Inference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Rectangle 5"/>
          <p:cNvSpPr/>
          <p:nvPr/>
        </p:nvSpPr>
        <p:spPr>
          <a:xfrm>
            <a:off x="2533680" y="3636000"/>
            <a:ext cx="1409040" cy="6717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Sample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(1,14)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ectangle 6"/>
          <p:cNvSpPr/>
          <p:nvPr/>
        </p:nvSpPr>
        <p:spPr>
          <a:xfrm>
            <a:off x="4420080" y="2116080"/>
            <a:ext cx="1577520" cy="9291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NN(sample)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7"/>
          <p:cNvSpPr/>
          <p:nvPr/>
        </p:nvSpPr>
        <p:spPr>
          <a:xfrm>
            <a:off x="8458200" y="2057400"/>
            <a:ext cx="1514880" cy="9291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Binary Prediction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8"/>
          <p:cNvSpPr/>
          <p:nvPr/>
        </p:nvSpPr>
        <p:spPr>
          <a:xfrm>
            <a:off x="5714640" y="3521520"/>
            <a:ext cx="5209920" cy="20977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9"/>
          <p:cNvSpPr/>
          <p:nvPr/>
        </p:nvSpPr>
        <p:spPr>
          <a:xfrm>
            <a:off x="5714640" y="3528360"/>
            <a:ext cx="4190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Explainable component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11"/>
          <p:cNvSpPr/>
          <p:nvPr/>
        </p:nvSpPr>
        <p:spPr>
          <a:xfrm>
            <a:off x="5997960" y="4233960"/>
            <a:ext cx="1577520" cy="9291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Saliency gradient maps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12"/>
          <p:cNvSpPr/>
          <p:nvPr/>
        </p:nvSpPr>
        <p:spPr>
          <a:xfrm>
            <a:off x="8327880" y="4218120"/>
            <a:ext cx="1577520" cy="9291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Fuzzy Decision Tree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3"/>
          <p:cNvSpPr/>
          <p:nvPr/>
        </p:nvSpPr>
        <p:spPr>
          <a:xfrm>
            <a:off x="5997960" y="5190120"/>
            <a:ext cx="15775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Root cause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4"/>
          <p:cNvSpPr/>
          <p:nvPr/>
        </p:nvSpPr>
        <p:spPr>
          <a:xfrm>
            <a:off x="8331480" y="5163120"/>
            <a:ext cx="15775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Local rules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5"/>
          <p:cNvSpPr/>
          <p:nvPr/>
        </p:nvSpPr>
        <p:spPr>
          <a:xfrm>
            <a:off x="6232320" y="5916960"/>
            <a:ext cx="41907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The sample predicted class 1 because (Root cause), why (local rules).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3" name="Connector: Elbow 19"/>
          <p:cNvCxnSpPr>
            <a:stCxn id="63" idx="3"/>
            <a:endCxn id="64" idx="2"/>
          </p:cNvCxnSpPr>
          <p:nvPr/>
        </p:nvCxnSpPr>
        <p:spPr>
          <a:xfrm flipV="1">
            <a:off x="3942720" y="3045240"/>
            <a:ext cx="1266480" cy="927000"/>
          </a:xfrm>
          <a:prstGeom prst="bentConnector2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cxnSp>
        <p:nvCxnSpPr>
          <p:cNvPr id="74" name="Straight Arrow Connector 22"/>
          <p:cNvCxnSpPr>
            <a:stCxn id="64" idx="3"/>
            <a:endCxn id="65" idx="1"/>
          </p:cNvCxnSpPr>
          <p:nvPr/>
        </p:nvCxnSpPr>
        <p:spPr>
          <a:xfrm flipV="1">
            <a:off x="5997600" y="2522160"/>
            <a:ext cx="2460960" cy="5904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cxnSp>
        <p:nvCxnSpPr>
          <p:cNvPr id="75" name="Connector: Elbow 26"/>
          <p:cNvCxnSpPr>
            <a:stCxn id="65" idx="2"/>
            <a:endCxn id="67" idx="0"/>
          </p:cNvCxnSpPr>
          <p:nvPr/>
        </p:nvCxnSpPr>
        <p:spPr>
          <a:xfrm rot="5400000">
            <a:off x="8241840" y="2554560"/>
            <a:ext cx="542160" cy="1405800"/>
          </a:xfrm>
          <a:prstGeom prst="bentConnector3">
            <a:avLst>
              <a:gd name="adj1" fmla="val 50033"/>
            </a:avLst>
          </a:prstGeom>
          <a:ln>
            <a:solidFill>
              <a:srgbClr val="000000"/>
            </a:solidFill>
            <a:tailEnd len="med" type="triangle" w="med"/>
          </a:ln>
        </p:spPr>
      </p:cxnSp>
      <p:sp>
        <p:nvSpPr>
          <p:cNvPr id="76" name="Rectangle 1"/>
          <p:cNvSpPr/>
          <p:nvPr/>
        </p:nvSpPr>
        <p:spPr>
          <a:xfrm>
            <a:off x="6257520" y="2057400"/>
            <a:ext cx="1514880" cy="9291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fuzzyl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/>
          </p:nvPr>
        </p:nvSpPr>
        <p:spPr>
          <a:xfrm>
            <a:off x="838080" y="368280"/>
            <a:ext cx="10515240" cy="58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Explainable component example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8" name="Rectangle 3"/>
          <p:cNvSpPr/>
          <p:nvPr/>
        </p:nvSpPr>
        <p:spPr>
          <a:xfrm>
            <a:off x="838080" y="968760"/>
            <a:ext cx="1577520" cy="9291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Saliency gradient maps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4"/>
          <p:cNvSpPr/>
          <p:nvPr/>
        </p:nvSpPr>
        <p:spPr>
          <a:xfrm>
            <a:off x="2676600" y="968760"/>
            <a:ext cx="376200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For top k firing rules in the last fuzzy classifier head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Trace gradients to features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5"/>
          <p:cNvSpPr/>
          <p:nvPr/>
        </p:nvSpPr>
        <p:spPr>
          <a:xfrm>
            <a:off x="838080" y="2147400"/>
            <a:ext cx="1577520" cy="9291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Fuzzy Decision Tree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7"/>
          <p:cNvSpPr/>
          <p:nvPr/>
        </p:nvSpPr>
        <p:spPr>
          <a:xfrm>
            <a:off x="2685960" y="2153520"/>
            <a:ext cx="157752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Process for 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Sample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(1,features)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8"/>
          <p:cNvSpPr/>
          <p:nvPr/>
        </p:nvSpPr>
        <p:spPr>
          <a:xfrm>
            <a:off x="4457520" y="2147400"/>
            <a:ext cx="2174400" cy="829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Find local samples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KNN / LIME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9"/>
          <p:cNvSpPr/>
          <p:nvPr/>
        </p:nvSpPr>
        <p:spPr>
          <a:xfrm>
            <a:off x="7586640" y="2147400"/>
            <a:ext cx="2174400" cy="829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Train Fuzzy Decision Tree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4" name="Straight Arrow Connector 11"/>
          <p:cNvCxnSpPr>
            <a:stCxn id="82" idx="3"/>
            <a:endCxn id="83" idx="1"/>
          </p:cNvCxnSpPr>
          <p:nvPr/>
        </p:nvCxnSpPr>
        <p:spPr>
          <a:xfrm>
            <a:off x="6631920" y="2562480"/>
            <a:ext cx="955080" cy="36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sp>
        <p:nvSpPr>
          <p:cNvPr id="85" name="TextBox 12"/>
          <p:cNvSpPr/>
          <p:nvPr/>
        </p:nvSpPr>
        <p:spPr>
          <a:xfrm>
            <a:off x="9991800" y="2377800"/>
            <a:ext cx="18093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Get local rules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7"/>
          <p:cNvSpPr/>
          <p:nvPr/>
        </p:nvSpPr>
        <p:spPr>
          <a:xfrm>
            <a:off x="6699240" y="1007640"/>
            <a:ext cx="520560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Gradient saliency works with NN’s only for benchmarks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For traditional classifiers, feature importance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0" y="4746960"/>
            <a:ext cx="11948040" cy="188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Rules found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IF GT_exhaust_gas_pressure(Pexh)(bar) IS Low AND HP_turbine_exit_pressure_(P48)(bar) IS Low THEN class = 1 [support=7.12, confidence=1.00]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IF GT_exhaust_gas_pressure(Pexh)(bar) IS Low AND HP_turbine_exit_pressure_(P48)(bar) IS Medium AND GT_compressor_outlet_air_temperature(T2)(C) IS Medium THEN class = 1 [support=6.06, confidence=0.51]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IF GT_exhaust_gas_pressure(Pexh)(bar) IS Low AND HP_turbine_exit_pressure_(P48)(bar) IS Medium AND GT_compressor_outlet_air_temperature(T2)(C) IS High THEN class = 1 [support=5.66, confidence=1.00]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2971800" y="3657600"/>
            <a:ext cx="9144000" cy="858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Feature name: GT_compressor_outlet_air_temperature(T2)(C) | Importance:   0.0182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Feature name: GT_compressor_outlet_air_pressure(P2)(bar) | Importance:   0.0126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Feature name: gas_generator_rate_of_revolutions(GGn)(rpm) | Importance:   0.0118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"/>
          <p:cNvSpPr/>
          <p:nvPr/>
        </p:nvSpPr>
        <p:spPr>
          <a:xfrm>
            <a:off x="2676600" y="969120"/>
            <a:ext cx="37620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For top k firing rules in the last fuzzy classifier head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Trace gradients to features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3200400" y="3200400"/>
            <a:ext cx="3762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Because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5"/>
          <p:cNvSpPr/>
          <p:nvPr/>
        </p:nvSpPr>
        <p:spPr>
          <a:xfrm>
            <a:off x="2676600" y="969480"/>
            <a:ext cx="37620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For top k firing rules in the last fuzzy classifier head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Trace gradients to features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0" y="3200400"/>
            <a:ext cx="3219840" cy="162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e.g for,         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Found Anomaly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Local AUC teacher: 0.95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Trained tree with 10 nodes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Local AUC of Tree: 0.9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                 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Έγγραφο" ma:contentTypeID="0x010100512B81F1B81D9B4BB53898402824BD20" ma:contentTypeVersion="5" ma:contentTypeDescription="Δημιουργία νέου εγγράφου" ma:contentTypeScope="" ma:versionID="a206330614df193f95c9dc4be38cfc1b">
  <xsd:schema xmlns:xsd="http://www.w3.org/2001/XMLSchema" xmlns:xs="http://www.w3.org/2001/XMLSchema" xmlns:p="http://schemas.microsoft.com/office/2006/metadata/properties" xmlns:ns3="ba78a87d-3ba9-4eaf-ac2b-f47dba7b1521" targetNamespace="http://schemas.microsoft.com/office/2006/metadata/properties" ma:root="true" ma:fieldsID="2bb825ee1a23eafb9c8f49092022ec92" ns3:_="">
    <xsd:import namespace="ba78a87d-3ba9-4eaf-ac2b-f47dba7b152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78a87d-3ba9-4eaf-ac2b-f47dba7b152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Τύπος περιεχομένου"/>
        <xsd:element ref="dc:title" minOccurs="0" maxOccurs="1" ma:index="4" ma:displayName="Τίτλο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a78a87d-3ba9-4eaf-ac2b-f47dba7b1521" xsi:nil="true"/>
  </documentManagement>
</p:properties>
</file>

<file path=customXml/itemProps1.xml><?xml version="1.0" encoding="utf-8"?>
<ds:datastoreItem xmlns:ds="http://schemas.openxmlformats.org/officeDocument/2006/customXml" ds:itemID="{5C6E32FA-CECC-4DA7-8F86-CF8926BBE1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78a87d-3ba9-4eaf-ac2b-f47dba7b152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8D4489-6824-41DC-A266-A969D5F743E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55734F-9C12-48D8-92BD-9F5EB2D27F6F}">
  <ds:schemaRefs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dcmitype/"/>
    <ds:schemaRef ds:uri="http://purl.org/dc/elements/1.1/"/>
    <ds:schemaRef ds:uri="ba78a87d-3ba9-4eaf-ac2b-f47dba7b1521"/>
    <ds:schemaRef ds:uri="http://purl.org/dc/terms/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</TotalTime>
  <Application>LibreOffice/25.8.3.2$Linux_X86_64 LibreOffice_project/69c620f4d99e06f4c05a0e551b1b572b8c7ede69</Application>
  <AppVersion>15.0000</AppVersion>
  <Words>122</Words>
  <Paragraphs>32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2025-12-18T06:27:39Z</dcterms:created>
  <dc:creator>KALOGEROPOULOS DIONYSIOS</dc:creator>
  <dc:description/>
  <dc:language>en-US</dc:language>
  <cp:lastModifiedBy/>
  <dcterms:modified xsi:type="dcterms:W3CDTF">2025-12-18T18:50:02Z</dcterms:modified>
  <cp:revision>15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0x010100512B81F1B81D9B4BB53898402824BD20</vt:lpwstr>
  </property>
  <property fmtid="{D5CDD505-2E9C-101B-9397-08002B2CF9AE}" pid="3" name="PresentationFormat">
    <vt:lpwstr>Widescreen</vt:lpwstr>
  </property>
  <property fmtid="{D5CDD505-2E9C-101B-9397-08002B2CF9AE}" pid="4" name="Slides">
    <vt:i4>2</vt:i4>
  </property>
</Properties>
</file>
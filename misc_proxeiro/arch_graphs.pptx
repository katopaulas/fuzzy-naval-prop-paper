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9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295C8-00B6-26E5-883E-A590BBF790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3ABBE8-EABB-9B06-8116-EAEC56B20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3A13A-B352-6B9C-7225-E8CA06B4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011B7-9929-FD3F-F69E-D07601330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A566F-EEE1-96D0-ED45-CACB72FEE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3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E86CA-8076-8656-E276-6BB712FB1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25E1A-4E06-E3F4-6011-16A63C06E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EF5A0-6FB9-6AB3-BD6E-046B4655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6BA1-03D8-605F-97BF-02D6AFD71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88E050-8DFE-0E72-427F-60F2286CB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976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4DF55-8B76-3B90-B967-164EE5B31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B00FE3-C139-5999-6BD3-0B5184CC28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F7412A-E6A4-8733-3CB0-4E00D6BB4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0CF3D0-88FA-F0F0-7268-9D55584CB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849C43-790E-3C16-AFD2-B99C954D4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6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E8C3-23D8-C666-7DEF-FD1F0F4AD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1AA34-4207-EA10-4BB9-7CA3BEC192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786851-C729-2602-71CC-F373E024BA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48E5C-D35F-C48B-1C84-15A47789B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4EF3C-867A-8805-7EA9-DC4D04206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6B388B-65CC-97BE-00A1-EEB26F5B5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64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61D26-5C44-6E28-5011-6B8407054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F79BFC-90DF-C972-9B6D-6F09CBDE5A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FBB04-39E0-BF92-6FED-6CDFE2BFFA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9AE959-41B0-0DE1-1BFE-E254478A3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E61E4A-09E6-6F13-3924-835DB05C30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085706-7615-1FBB-1707-1FE98B7ED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CA69B1-20B4-0ECB-C48F-B0EFB8F46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C952CC-5B46-9CC1-0341-E81DC928D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93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99270-E2FB-6DBB-F060-AC079849E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3D0BA4-BAE0-5E19-9DEC-51437D3C1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DAF984-8B11-1B02-86DB-9625A8DAF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100333-10EA-6EAD-77AD-232B384DE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410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09D549-AE7E-1AB9-C497-C3DA73C3E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0F78A4-C2B0-9EC5-A655-66B1E49AC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C89E0-F67F-5F35-43D3-C53CA7846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666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3C433-ECDE-CF99-3D74-00DFAD881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094EC-ECF4-B024-B5CE-91F2DB523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5CF8B5-F777-4E63-85B2-57522706EE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536FA8-B2C0-B21F-9528-6E198AAF2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9ABD1-BFF8-AE1B-C924-EB23B0893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077BB-A90B-7BC3-EDD9-78019EF0B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56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C6B86-BA3B-D4EF-252E-2962491CC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0D5F56-AAAD-1919-49B4-A74E03DF7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1190D9-A72A-FB35-5061-A46A32D43B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ABCF62-A1C8-C84A-CB4C-169166E8E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C4A81-13E9-FB0A-1711-F19EFBBFF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7AB1F5-8482-6753-019D-7B1926F53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36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83494-3690-BF13-A9C1-199DDA133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05863-B9CF-F5E0-2B79-17BC779A0C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05460-33C6-0645-2D20-B1C67C01A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1DF88-28C3-4B4E-2D14-B244C9A41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91A92-CAA1-A286-7929-064B136A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5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FF68D6-DBD9-DFF0-C6B0-838501FDFE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C6D81A-A83E-52DE-66A1-A7256F539C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478DF-01BD-487F-DA70-7D710AAF7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536B-2BA1-19D1-DF30-055FDE7BB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98A06-9805-2791-4D8F-08D8AC5DE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306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C3871E-5D8D-6FA9-9650-7505CA4C0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CE4B5-6A3D-965A-E0D1-B258055E2F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1B84C-DB54-1EBF-BD90-C684B966FB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CC2D50-4BB6-4CFC-9964-271403DBA71F}" type="datetimeFigureOut">
              <a:rPr lang="en-US" smtClean="0"/>
              <a:t>24-Dec-25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E7627A-59F8-8BD1-9810-9BE05BC712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628A5-8CE1-C8A3-DD12-20EFB8E329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6013F-7860-4609-B06D-ECFAA39E32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3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DA91F68-CD01-9893-8917-B991674C53DD}"/>
              </a:ext>
            </a:extLst>
          </p:cNvPr>
          <p:cNvSpPr/>
          <p:nvPr/>
        </p:nvSpPr>
        <p:spPr>
          <a:xfrm>
            <a:off x="2708672" y="744096"/>
            <a:ext cx="6254353" cy="2286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5DFD46F-3D6D-AF28-5A82-21E4FEBA8CDC}"/>
              </a:ext>
            </a:extLst>
          </p:cNvPr>
          <p:cNvSpPr/>
          <p:nvPr/>
        </p:nvSpPr>
        <p:spPr>
          <a:xfrm>
            <a:off x="1447799" y="1328736"/>
            <a:ext cx="933449" cy="4572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Input</a:t>
            </a:r>
          </a:p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F05A57-2DC0-EA3B-CDED-05B1398483D7}"/>
              </a:ext>
            </a:extLst>
          </p:cNvPr>
          <p:cNvSpPr/>
          <p:nvPr/>
        </p:nvSpPr>
        <p:spPr>
          <a:xfrm>
            <a:off x="2847975" y="1314450"/>
            <a:ext cx="752475" cy="48577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Block</a:t>
            </a:r>
          </a:p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Dense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EB4777-D5D4-A9B7-9FC7-7016620F98BE}"/>
              </a:ext>
            </a:extLst>
          </p:cNvPr>
          <p:cNvSpPr/>
          <p:nvPr/>
        </p:nvSpPr>
        <p:spPr>
          <a:xfrm>
            <a:off x="4048125" y="1314450"/>
            <a:ext cx="752475" cy="48577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Block</a:t>
            </a:r>
          </a:p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Residual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1F9BC5-F93D-263C-780F-B70963972416}"/>
              </a:ext>
            </a:extLst>
          </p:cNvPr>
          <p:cNvSpPr/>
          <p:nvPr/>
        </p:nvSpPr>
        <p:spPr>
          <a:xfrm>
            <a:off x="5195887" y="1314450"/>
            <a:ext cx="752475" cy="48577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Block</a:t>
            </a:r>
          </a:p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Residual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176F7E-807B-F8EF-211B-9AC08BB5140F}"/>
              </a:ext>
            </a:extLst>
          </p:cNvPr>
          <p:cNvSpPr txBox="1"/>
          <p:nvPr/>
        </p:nvSpPr>
        <p:spPr>
          <a:xfrm>
            <a:off x="4786312" y="131445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A9CD30-BBA1-32E8-E25F-7F3FFEBCF8EF}"/>
              </a:ext>
            </a:extLst>
          </p:cNvPr>
          <p:cNvSpPr txBox="1"/>
          <p:nvPr/>
        </p:nvSpPr>
        <p:spPr>
          <a:xfrm>
            <a:off x="4205286" y="368148"/>
            <a:ext cx="30908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Neural Network Architecture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48B63B-7DE6-FAC4-8218-CD3E333BED54}"/>
              </a:ext>
            </a:extLst>
          </p:cNvPr>
          <p:cNvSpPr/>
          <p:nvPr/>
        </p:nvSpPr>
        <p:spPr>
          <a:xfrm>
            <a:off x="6324599" y="933449"/>
            <a:ext cx="2447927" cy="124777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C24FC43-9BBD-FA7D-125A-E5A168CE56EA}"/>
              </a:ext>
            </a:extLst>
          </p:cNvPr>
          <p:cNvSpPr/>
          <p:nvPr/>
        </p:nvSpPr>
        <p:spPr>
          <a:xfrm>
            <a:off x="6543673" y="1314450"/>
            <a:ext cx="752475" cy="48577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Fuzzify</a:t>
            </a:r>
          </a:p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layer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08B440A-1DD4-9198-B347-A1E2BE55BDD6}"/>
              </a:ext>
            </a:extLst>
          </p:cNvPr>
          <p:cNvSpPr/>
          <p:nvPr/>
        </p:nvSpPr>
        <p:spPr>
          <a:xfrm>
            <a:off x="7467599" y="1314450"/>
            <a:ext cx="1133475" cy="48577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Defuzzification layer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3F36972-5B64-0559-7E37-9F7A340FA3AA}"/>
              </a:ext>
            </a:extLst>
          </p:cNvPr>
          <p:cNvCxnSpPr>
            <a:stCxn id="10" idx="3"/>
            <a:endCxn id="22" idx="1"/>
          </p:cNvCxnSpPr>
          <p:nvPr/>
        </p:nvCxnSpPr>
        <p:spPr>
          <a:xfrm flipV="1">
            <a:off x="5948362" y="1557337"/>
            <a:ext cx="376237" cy="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E15C834-BD0A-0524-2DA0-135D3DE443E9}"/>
              </a:ext>
            </a:extLst>
          </p:cNvPr>
          <p:cNvSpPr/>
          <p:nvPr/>
        </p:nvSpPr>
        <p:spPr>
          <a:xfrm>
            <a:off x="3648075" y="2249782"/>
            <a:ext cx="1685925" cy="573643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Explainable </a:t>
            </a:r>
          </a:p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Component</a:t>
            </a: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288583E-B720-917F-0EE6-FBDBEA013C52}"/>
              </a:ext>
            </a:extLst>
          </p:cNvPr>
          <p:cNvCxnSpPr>
            <a:stCxn id="19" idx="2"/>
            <a:endCxn id="25" idx="3"/>
          </p:cNvCxnSpPr>
          <p:nvPr/>
        </p:nvCxnSpPr>
        <p:spPr>
          <a:xfrm rot="5400000">
            <a:off x="5758767" y="1375459"/>
            <a:ext cx="736379" cy="1585911"/>
          </a:xfrm>
          <a:prstGeom prst="bentConnector2">
            <a:avLst/>
          </a:prstGeom>
          <a:ln>
            <a:solidFill>
              <a:schemeClr val="accent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56FB099-573F-7C08-0194-B059ED5A36F5}"/>
              </a:ext>
            </a:extLst>
          </p:cNvPr>
          <p:cNvCxnSpPr>
            <a:cxnSpLocks/>
          </p:cNvCxnSpPr>
          <p:nvPr/>
        </p:nvCxnSpPr>
        <p:spPr>
          <a:xfrm>
            <a:off x="8610600" y="1557336"/>
            <a:ext cx="5143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53CF1-C1AA-8AB7-81A5-C9B67C5EE85D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600450" y="1557338"/>
            <a:ext cx="44767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0C281A6-3BDC-2CE0-E7DF-AC2CDD2558B4}"/>
              </a:ext>
            </a:extLst>
          </p:cNvPr>
          <p:cNvCxnSpPr/>
          <p:nvPr/>
        </p:nvCxnSpPr>
        <p:spPr>
          <a:xfrm>
            <a:off x="2390774" y="1557336"/>
            <a:ext cx="44767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6221E31-089D-E948-1492-75FFBF06D838}"/>
              </a:ext>
            </a:extLst>
          </p:cNvPr>
          <p:cNvSpPr txBox="1"/>
          <p:nvPr/>
        </p:nvSpPr>
        <p:spPr>
          <a:xfrm>
            <a:off x="3764904" y="3158977"/>
            <a:ext cx="16500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elvetica" panose="020B0604020202020204" pitchFamily="34" charset="0"/>
                <a:cs typeface="Helvetica" panose="020B0604020202020204" pitchFamily="34" charset="0"/>
              </a:rPr>
              <a:t>Root cause analysis          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49CC0B-5FD3-C0C3-8857-1C8D24403A60}"/>
              </a:ext>
            </a:extLst>
          </p:cNvPr>
          <p:cNvCxnSpPr>
            <a:cxnSpLocks/>
          </p:cNvCxnSpPr>
          <p:nvPr/>
        </p:nvCxnSpPr>
        <p:spPr>
          <a:xfrm>
            <a:off x="4448175" y="2820419"/>
            <a:ext cx="0" cy="3777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98C6164-7DA2-0854-983B-0A3CB4002480}"/>
              </a:ext>
            </a:extLst>
          </p:cNvPr>
          <p:cNvSpPr txBox="1"/>
          <p:nvPr/>
        </p:nvSpPr>
        <p:spPr>
          <a:xfrm>
            <a:off x="6324599" y="942587"/>
            <a:ext cx="3090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elvetica" panose="020B0604020202020204" pitchFamily="34" charset="0"/>
                <a:cs typeface="Helvetica" panose="020B0604020202020204" pitchFamily="34" charset="0"/>
              </a:rPr>
              <a:t>Fuzzy Classifier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E113E02-D3EE-621C-592E-B97A705A308D}"/>
              </a:ext>
            </a:extLst>
          </p:cNvPr>
          <p:cNvSpPr/>
          <p:nvPr/>
        </p:nvSpPr>
        <p:spPr>
          <a:xfrm>
            <a:off x="2776539" y="933448"/>
            <a:ext cx="3314698" cy="1029507"/>
          </a:xfrm>
          <a:prstGeom prst="rect">
            <a:avLst/>
          </a:prstGeom>
          <a:noFill/>
          <a:ln w="15875"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F606A2C-E31D-9885-CD0E-5ADA48F6BD2D}"/>
              </a:ext>
            </a:extLst>
          </p:cNvPr>
          <p:cNvSpPr txBox="1"/>
          <p:nvPr/>
        </p:nvSpPr>
        <p:spPr>
          <a:xfrm>
            <a:off x="2781301" y="942972"/>
            <a:ext cx="3090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elvetica" panose="020B0604020202020204" pitchFamily="34" charset="0"/>
                <a:cs typeface="Helvetica" panose="020B0604020202020204" pitchFamily="34" charset="0"/>
              </a:rPr>
              <a:t>Feature extractor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A2D72D2-20EB-7820-0146-C312B3028512}"/>
              </a:ext>
            </a:extLst>
          </p:cNvPr>
          <p:cNvCxnSpPr>
            <a:stCxn id="19" idx="3"/>
          </p:cNvCxnSpPr>
          <p:nvPr/>
        </p:nvCxnSpPr>
        <p:spPr>
          <a:xfrm flipV="1">
            <a:off x="7296148" y="1557336"/>
            <a:ext cx="171451" cy="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E562CAD-D269-11FC-57F5-C64F6696089A}"/>
                  </a:ext>
                </a:extLst>
              </p:cNvPr>
              <p:cNvSpPr/>
              <p:nvPr/>
            </p:nvSpPr>
            <p:spPr>
              <a:xfrm>
                <a:off x="9182096" y="1343025"/>
                <a:ext cx="933449" cy="457200"/>
              </a:xfrm>
              <a:prstGeom prst="ellipse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Output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100" i="1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sz="1100" i="1">
                          <a:latin typeface="Cambria Math" panose="02040503050406030204" pitchFamily="18" charset="0"/>
                        </a:rPr>
                        <m:t>̂</m:t>
                      </m:r>
                    </m:oMath>
                  </m:oMathPara>
                </a14:m>
                <a:endParaRPr lang="en-US" sz="1100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p:txBody>
          </p:sp>
        </mc:Choice>
        <mc:Fallback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E562CAD-D269-11FC-57F5-C64F669608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2096" y="1343025"/>
                <a:ext cx="933449" cy="4572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929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8E6C8-DB5A-D390-F99C-D6C99170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57CAA76-8C0C-D580-AFBB-444C121C324C}"/>
              </a:ext>
            </a:extLst>
          </p:cNvPr>
          <p:cNvSpPr/>
          <p:nvPr/>
        </p:nvSpPr>
        <p:spPr>
          <a:xfrm>
            <a:off x="1707864" y="548642"/>
            <a:ext cx="3416586" cy="16154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CA0C95-9738-CCD0-063D-2C667B8C5626}"/>
              </a:ext>
            </a:extLst>
          </p:cNvPr>
          <p:cNvSpPr txBox="1"/>
          <p:nvPr/>
        </p:nvSpPr>
        <p:spPr>
          <a:xfrm>
            <a:off x="3162664" y="105799"/>
            <a:ext cx="1978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Inference System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B526D8-22CB-9CCE-591A-665DBFC6B7FC}"/>
              </a:ext>
            </a:extLst>
          </p:cNvPr>
          <p:cNvSpPr/>
          <p:nvPr/>
        </p:nvSpPr>
        <p:spPr>
          <a:xfrm>
            <a:off x="1947862" y="1529765"/>
            <a:ext cx="787008" cy="4953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Layer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45BA32-DA9D-5DBB-7275-CB3F8BC1E816}"/>
              </a:ext>
            </a:extLst>
          </p:cNvPr>
          <p:cNvSpPr/>
          <p:nvPr/>
        </p:nvSpPr>
        <p:spPr>
          <a:xfrm>
            <a:off x="3046217" y="1529765"/>
            <a:ext cx="787008" cy="4953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Helvetica" panose="020B0604020202020204" pitchFamily="34" charset="0"/>
                <a:cs typeface="Helvetica" panose="020B0604020202020204" pitchFamily="34" charset="0"/>
              </a:rPr>
              <a:t>Layer 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D0AAEEB-5919-908B-F145-8C5E78897E8A}"/>
                  </a:ext>
                </a:extLst>
              </p:cNvPr>
              <p:cNvSpPr/>
              <p:nvPr/>
            </p:nvSpPr>
            <p:spPr>
              <a:xfrm>
                <a:off x="255392" y="1194564"/>
                <a:ext cx="1142999" cy="579977"/>
              </a:xfrm>
              <a:prstGeom prst="ellipse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algn="ctr"/>
                <a:r>
                  <a:rPr lang="en-US" sz="11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Input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0" i="1" smtClean="0">
                            <a:latin typeface="Cambria Math" panose="02040503050406030204" pitchFamily="18" charset="0"/>
                            <a:cs typeface="Helvetica" panose="020B0604020202020204" pitchFamily="34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  <a:cs typeface="Helvetica" panose="020B0604020202020204" pitchFamily="34" charset="0"/>
                          </a:rPr>
                          <m:t>𝑠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  <a:cs typeface="Helvetica" panose="020B0604020202020204" pitchFamily="34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100" b="0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algn="ctr"/>
                <a:endParaRPr lang="en-US" sz="1100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4979C0F-1042-EAFB-FFB9-654D9C41DF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392" y="1194564"/>
                <a:ext cx="1142999" cy="579977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23E5E369-0D84-973E-04A8-5BE6944D1AD1}"/>
              </a:ext>
            </a:extLst>
          </p:cNvPr>
          <p:cNvSpPr/>
          <p:nvPr/>
        </p:nvSpPr>
        <p:spPr>
          <a:xfrm>
            <a:off x="4151775" y="1529765"/>
            <a:ext cx="787008" cy="49530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Fuzzy</a:t>
            </a:r>
          </a:p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Classifier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97C24C-8717-239B-B149-63413F6E13C9}"/>
              </a:ext>
            </a:extLst>
          </p:cNvPr>
          <p:cNvSpPr txBox="1"/>
          <p:nvPr/>
        </p:nvSpPr>
        <p:spPr>
          <a:xfrm>
            <a:off x="1707863" y="591165"/>
            <a:ext cx="19782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Helvetica" panose="020B0604020202020204" pitchFamily="34" charset="0"/>
                <a:cs typeface="Helvetica" panose="020B0604020202020204" pitchFamily="34" charset="0"/>
              </a:rPr>
              <a:t>Teacher Network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838B537-6D36-4898-DDEB-2543277C7D82}"/>
              </a:ext>
            </a:extLst>
          </p:cNvPr>
          <p:cNvCxnSpPr>
            <a:cxnSpLocks/>
            <a:stCxn id="11" idx="6"/>
          </p:cNvCxnSpPr>
          <p:nvPr/>
        </p:nvCxnSpPr>
        <p:spPr>
          <a:xfrm>
            <a:off x="1398391" y="1484553"/>
            <a:ext cx="30947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F037714-1899-C85F-3A05-D36FE4D74FAB}"/>
              </a:ext>
            </a:extLst>
          </p:cNvPr>
          <p:cNvCxnSpPr>
            <a:cxnSpLocks/>
          </p:cNvCxnSpPr>
          <p:nvPr/>
        </p:nvCxnSpPr>
        <p:spPr>
          <a:xfrm flipV="1">
            <a:off x="2741187" y="1777415"/>
            <a:ext cx="311347" cy="87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4BAD248-57DF-0158-C1BD-1B18C438BF25}"/>
              </a:ext>
            </a:extLst>
          </p:cNvPr>
          <p:cNvCxnSpPr>
            <a:cxnSpLocks/>
          </p:cNvCxnSpPr>
          <p:nvPr/>
        </p:nvCxnSpPr>
        <p:spPr>
          <a:xfrm flipV="1">
            <a:off x="3842009" y="1768635"/>
            <a:ext cx="311347" cy="87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C414115C-55A9-80F1-2E56-334A063653A1}"/>
              </a:ext>
            </a:extLst>
          </p:cNvPr>
          <p:cNvSpPr/>
          <p:nvPr/>
        </p:nvSpPr>
        <p:spPr>
          <a:xfrm>
            <a:off x="255392" y="2300009"/>
            <a:ext cx="1142998" cy="760667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KNN sampling</a:t>
            </a:r>
          </a:p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Local neighborhood of K neighbors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EFB2315-5C65-98A3-497C-C9EBBC4E6F47}"/>
              </a:ext>
            </a:extLst>
          </p:cNvPr>
          <p:cNvCxnSpPr>
            <a:cxnSpLocks/>
            <a:stCxn id="11" idx="4"/>
            <a:endCxn id="20" idx="0"/>
          </p:cNvCxnSpPr>
          <p:nvPr/>
        </p:nvCxnSpPr>
        <p:spPr>
          <a:xfrm flipH="1">
            <a:off x="826891" y="1774541"/>
            <a:ext cx="1" cy="5254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8E918CF0-99A0-8353-B4E4-FD209F58BC17}"/>
                  </a:ext>
                </a:extLst>
              </p:cNvPr>
              <p:cNvSpPr/>
              <p:nvPr/>
            </p:nvSpPr>
            <p:spPr>
              <a:xfrm>
                <a:off x="2117341" y="2390351"/>
                <a:ext cx="1142998" cy="579977"/>
              </a:xfrm>
              <a:prstGeom prst="ellipse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algn="ctr"/>
                <a:r>
                  <a:rPr lang="en-US" sz="11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K Samples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0" i="1" smtClean="0">
                            <a:latin typeface="Cambria Math" panose="02040503050406030204" pitchFamily="18" charset="0"/>
                            <a:cs typeface="Helvetica" panose="020B0604020202020204" pitchFamily="34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  <a:cs typeface="Helvetica" panose="020B0604020202020204" pitchFamily="34" charset="0"/>
                          </a:rPr>
                          <m:t>𝑠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  <a:cs typeface="Helvetica" panose="020B060402020202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100" b="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}</a:t>
                </a:r>
              </a:p>
              <a:p>
                <a:pPr algn="ctr"/>
                <a:endParaRPr lang="en-US" sz="1100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p:txBody>
          </p:sp>
        </mc:Choice>
        <mc:Fallback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8E918CF0-99A0-8353-B4E4-FD209F58BC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341" y="2390351"/>
                <a:ext cx="1142998" cy="579977"/>
              </a:xfrm>
              <a:prstGeom prst="ellipse">
                <a:avLst/>
              </a:prstGeom>
              <a:blipFill>
                <a:blip r:embed="rId3"/>
                <a:stretch>
                  <a:fillRect t="-1031" b="-7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97B8F65F-BD42-2395-3BD5-D4EB3E5F3A0B}"/>
                  </a:ext>
                </a:extLst>
              </p:cNvPr>
              <p:cNvSpPr/>
              <p:nvPr/>
            </p:nvSpPr>
            <p:spPr>
              <a:xfrm>
                <a:off x="6812192" y="1484552"/>
                <a:ext cx="1142999" cy="579977"/>
              </a:xfrm>
              <a:prstGeom prst="ellipse">
                <a:avLst/>
              </a:prstGeom>
              <a:gradFill>
                <a:gsLst>
                  <a:gs pos="100000">
                    <a:srgbClr val="FF0000">
                      <a:alpha val="32000"/>
                    </a:srgbClr>
                  </a:gs>
                  <a:gs pos="100000">
                    <a:schemeClr val="accent6">
                      <a:lumMod val="105000"/>
                      <a:satMod val="103000"/>
                      <a:tint val="73000"/>
                    </a:schemeClr>
                  </a:gs>
                  <a:gs pos="100000">
                    <a:schemeClr val="accent6">
                      <a:lumMod val="105000"/>
                      <a:satMod val="109000"/>
                      <a:tint val="81000"/>
                    </a:schemeClr>
                  </a:gs>
                </a:gsLst>
                <a:lin ang="5400000" scaled="0"/>
              </a:gradFill>
              <a:ln>
                <a:solidFill>
                  <a:schemeClr val="tx1"/>
                </a:solidFill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Predicted class</a:t>
                </a:r>
                <a14:m>
                  <m:oMath xmlns:m="http://schemas.openxmlformats.org/officeDocument/2006/math">
                    <m:r>
                      <a:rPr lang="en-US" sz="1100" b="0" i="0" smtClean="0">
                        <a:latin typeface="Cambria Math" panose="02040503050406030204" pitchFamily="18" charset="0"/>
                        <a:cs typeface="Helvetica" panose="020B060402020202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100" b="0" i="1" smtClean="0">
                        <a:latin typeface="Cambria Math" panose="02040503050406030204" pitchFamily="18" charset="0"/>
                        <a:cs typeface="Helvetica" panose="020B0604020202020204" pitchFamily="34" charset="0"/>
                      </a:rPr>
                      <m:t>y</m:t>
                    </m:r>
                    <m:r>
                      <a:rPr lang="en-US" sz="1100" b="0" i="1" smtClean="0">
                        <a:latin typeface="Cambria Math" panose="02040503050406030204" pitchFamily="18" charset="0"/>
                        <a:cs typeface="Helvetica" panose="020B0604020202020204" pitchFamily="34" charset="0"/>
                      </a:rPr>
                      <m:t>̂</m:t>
                    </m:r>
                  </m:oMath>
                </a14:m>
                <a:endParaRPr lang="en-US" sz="1100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p:txBody>
          </p:sp>
        </mc:Choice>
        <mc:Fallback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97B8F65F-BD42-2395-3BD5-D4EB3E5F3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192" y="1484552"/>
                <a:ext cx="1142999" cy="579977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61120C6C-9B11-067A-D158-89F10B3B5528}"/>
              </a:ext>
            </a:extLst>
          </p:cNvPr>
          <p:cNvSpPr/>
          <p:nvPr/>
        </p:nvSpPr>
        <p:spPr>
          <a:xfrm>
            <a:off x="4938783" y="2307899"/>
            <a:ext cx="1142999" cy="7368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Fuzzy Decision Tree </a:t>
            </a:r>
          </a:p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(Local student)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2000B42-F5D5-C0B9-747B-9219080B27D6}"/>
              </a:ext>
            </a:extLst>
          </p:cNvPr>
          <p:cNvSpPr/>
          <p:nvPr/>
        </p:nvSpPr>
        <p:spPr>
          <a:xfrm>
            <a:off x="6970393" y="2390682"/>
            <a:ext cx="826599" cy="579648"/>
          </a:xfrm>
          <a:prstGeom prst="rect">
            <a:avLst/>
          </a:prstGeom>
          <a:gradFill>
            <a:gsLst>
              <a:gs pos="75000">
                <a:srgbClr val="93C889"/>
              </a:gs>
              <a:gs pos="50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Local</a:t>
            </a:r>
          </a:p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Rules </a:t>
            </a:r>
          </a:p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(IF THEN)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D73F208-1770-42E3-F222-42A3D566E7FB}"/>
              </a:ext>
            </a:extLst>
          </p:cNvPr>
          <p:cNvSpPr/>
          <p:nvPr/>
        </p:nvSpPr>
        <p:spPr>
          <a:xfrm>
            <a:off x="5564343" y="729665"/>
            <a:ext cx="787008" cy="49530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Saliency maps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75FAA8-FC6B-FFC5-EC73-09C91B3619D3}"/>
              </a:ext>
            </a:extLst>
          </p:cNvPr>
          <p:cNvSpPr/>
          <p:nvPr/>
        </p:nvSpPr>
        <p:spPr>
          <a:xfrm>
            <a:off x="6970393" y="729665"/>
            <a:ext cx="787008" cy="495300"/>
          </a:xfrm>
          <a:prstGeom prst="rect">
            <a:avLst/>
          </a:prstGeom>
          <a:gradFill>
            <a:gsLst>
              <a:gs pos="75000">
                <a:srgbClr val="93C889"/>
              </a:gs>
              <a:gs pos="50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Root Cause </a:t>
            </a:r>
          </a:p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8E67C1D-188B-59F3-986E-A6B8E4D999FE}"/>
              </a:ext>
            </a:extLst>
          </p:cNvPr>
          <p:cNvCxnSpPr>
            <a:cxnSpLocks/>
            <a:stCxn id="20" idx="3"/>
            <a:endCxn id="26" idx="2"/>
          </p:cNvCxnSpPr>
          <p:nvPr/>
        </p:nvCxnSpPr>
        <p:spPr>
          <a:xfrm flipV="1">
            <a:off x="1398390" y="2680340"/>
            <a:ext cx="718951" cy="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419323F-0F1D-4800-DDDE-2B6F67C42792}"/>
              </a:ext>
            </a:extLst>
          </p:cNvPr>
          <p:cNvCxnSpPr>
            <a:cxnSpLocks/>
            <a:stCxn id="26" idx="6"/>
            <a:endCxn id="31" idx="1"/>
          </p:cNvCxnSpPr>
          <p:nvPr/>
        </p:nvCxnSpPr>
        <p:spPr>
          <a:xfrm flipV="1">
            <a:off x="3260339" y="2676318"/>
            <a:ext cx="1678444" cy="40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2892B7B-EDF7-4506-41FE-77DA8895164B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5111750" y="977315"/>
            <a:ext cx="45259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AD1B7D0-6DD5-5B2E-8B2C-31B654ED3F38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5124450" y="1768635"/>
            <a:ext cx="1687742" cy="59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F676376-5C9B-5140-54E9-976281ACD9CE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6351351" y="977315"/>
            <a:ext cx="61904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AF389AB-27B1-9F1C-D425-B21CB732055D}"/>
              </a:ext>
            </a:extLst>
          </p:cNvPr>
          <p:cNvCxnSpPr>
            <a:cxnSpLocks/>
            <a:stCxn id="31" idx="3"/>
            <a:endCxn id="39" idx="1"/>
          </p:cNvCxnSpPr>
          <p:nvPr/>
        </p:nvCxnSpPr>
        <p:spPr>
          <a:xfrm>
            <a:off x="6081782" y="2676318"/>
            <a:ext cx="888611" cy="41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32F0333-CC22-6AF4-F0F9-C24E959434D4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5510282" y="1786195"/>
            <a:ext cx="1" cy="52170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AF5E49A-8982-E7A0-B06F-8EC62D22BA47}"/>
              </a:ext>
            </a:extLst>
          </p:cNvPr>
          <p:cNvSpPr/>
          <p:nvPr/>
        </p:nvSpPr>
        <p:spPr>
          <a:xfrm>
            <a:off x="4070051" y="747225"/>
            <a:ext cx="950455" cy="39446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Explainable </a:t>
            </a:r>
          </a:p>
          <a:p>
            <a:pPr algn="ctr"/>
            <a:r>
              <a:rPr lang="en-US" sz="11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Component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1862D38-13B0-C0D1-701F-DA6D261D6086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V="1">
            <a:off x="4545279" y="1141686"/>
            <a:ext cx="0" cy="388079"/>
          </a:xfrm>
          <a:prstGeom prst="straightConnector1">
            <a:avLst/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3669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78</Words>
  <Application>Microsoft Office PowerPoint</Application>
  <PresentationFormat>Widescreen</PresentationFormat>
  <Paragraphs>43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Helvetica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KALOGEROPOULOS DIONYSIOS</dc:creator>
  <cp:lastModifiedBy>KALOGEROPOULOS DIONYSIOS</cp:lastModifiedBy>
  <cp:revision>45</cp:revision>
  <dcterms:created xsi:type="dcterms:W3CDTF">2025-12-20T16:37:49Z</dcterms:created>
  <dcterms:modified xsi:type="dcterms:W3CDTF">2025-12-24T16:30:56Z</dcterms:modified>
</cp:coreProperties>
</file>